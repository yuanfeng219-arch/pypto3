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20991d49a54c76" /><Relationship Type="http://schemas.openxmlformats.org/officeDocument/2006/relationships/extended-properties" Target="/docProps/app.xml" Id="R8eec2838f61a4ba0" /><Relationship Type="http://schemas.openxmlformats.org/officeDocument/2006/relationships/officeDocument" Target="/ppt/presentation.xml" Id="R55a351b4b17f4c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02b62a08947b0"/>
  </p:sldMasterIdLst>
  <p:notesMasterIdLst>
    <p:notesMasterId xmlns:r="http://schemas.openxmlformats.org/officeDocument/2006/relationships" r:id="Rd40ac100d78f4ccf"/>
  </p:notesMasterIdLst>
  <p:sldIdLst>
    <p:sldId xmlns:r="http://schemas.openxmlformats.org/officeDocument/2006/relationships" id="256" r:id="R1cd925f682e8496b"/>
    <p:sldId xmlns:r="http://schemas.openxmlformats.org/officeDocument/2006/relationships" id="257" r:id="Ra709893df1454cb3"/>
    <p:sldId xmlns:r="http://schemas.openxmlformats.org/officeDocument/2006/relationships" id="258" r:id="R6540faa26fc5427a"/>
    <p:sldId xmlns:r="http://schemas.openxmlformats.org/officeDocument/2006/relationships" id="259" r:id="R08e5c9ef88194729"/>
    <p:sldId xmlns:r="http://schemas.openxmlformats.org/officeDocument/2006/relationships" id="260" r:id="R434aca9d06e74fee"/>
    <p:sldId xmlns:r="http://schemas.openxmlformats.org/officeDocument/2006/relationships" id="261" r:id="R078c8bc2725e4f43"/>
    <p:sldId xmlns:r="http://schemas.openxmlformats.org/officeDocument/2006/relationships" id="262" r:id="R2771e090cc4944c4"/>
    <p:sldId xmlns:r="http://schemas.openxmlformats.org/officeDocument/2006/relationships" id="263" r:id="Rc9120fec1b0c4a77"/>
    <p:sldId xmlns:r="http://schemas.openxmlformats.org/officeDocument/2006/relationships" id="264" r:id="Re65b12ce2ded428f"/>
    <p:sldId xmlns:r="http://schemas.openxmlformats.org/officeDocument/2006/relationships" id="265" r:id="R419d0dd2d68e4e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5ee2d27011474b" /><Relationship Type="http://schemas.openxmlformats.org/officeDocument/2006/relationships/slideMaster" Target="/ppt/slideMasters/slideMaster1.xml" Id="Ra3102b62a08947b0" /><Relationship Type="http://schemas.openxmlformats.org/officeDocument/2006/relationships/notesMaster" Target="/ppt/notesMasters/notesMaster1.xml" Id="Rd40ac100d78f4ccf" /><Relationship Type="http://schemas.openxmlformats.org/officeDocument/2006/relationships/presProps" Target="/ppt/presProps.xml" Id="R24dcad915e914403" /><Relationship Type="http://schemas.openxmlformats.org/officeDocument/2006/relationships/tableStyles" Target="/ppt/tableStyles.xml" Id="Rdc8121bead9343bf" /><Relationship Type="http://schemas.openxmlformats.org/officeDocument/2006/relationships/slide" Target="/ppt/slides/slide1.xml" Id="R1cd925f682e8496b" /><Relationship Type="http://schemas.openxmlformats.org/officeDocument/2006/relationships/slide" Target="/ppt/slides/slide2.xml" Id="Ra709893df1454cb3" /><Relationship Type="http://schemas.openxmlformats.org/officeDocument/2006/relationships/slide" Target="/ppt/slides/slide3.xml" Id="R6540faa26fc5427a" /><Relationship Type="http://schemas.openxmlformats.org/officeDocument/2006/relationships/slide" Target="/ppt/slides/slide4.xml" Id="R08e5c9ef88194729" /><Relationship Type="http://schemas.openxmlformats.org/officeDocument/2006/relationships/slide" Target="/ppt/slides/slide5.xml" Id="R434aca9d06e74fee" /><Relationship Type="http://schemas.openxmlformats.org/officeDocument/2006/relationships/slide" Target="/ppt/slides/slide6.xml" Id="R078c8bc2725e4f43" /><Relationship Type="http://schemas.openxmlformats.org/officeDocument/2006/relationships/slide" Target="/ppt/slides/slide7.xml" Id="R2771e090cc4944c4" /><Relationship Type="http://schemas.openxmlformats.org/officeDocument/2006/relationships/slide" Target="/ppt/slides/slide8.xml" Id="Rc9120fec1b0c4a77" /><Relationship Type="http://schemas.openxmlformats.org/officeDocument/2006/relationships/slide" Target="/ppt/slides/slide9.xml" Id="Re65b12ce2ded428f" /><Relationship Type="http://schemas.openxmlformats.org/officeDocument/2006/relationships/slide" Target="/ppt/slides/slide10.xml" Id="R419d0dd2d68e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ae880602a548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34d4df778d471c" /><Relationship Type="http://schemas.openxmlformats.org/officeDocument/2006/relationships/notesMaster" Target="/ppt/notesMasters/notesMaster1.xml" Id="Rd778d85f4f17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0c685b290b4a7b" /><Relationship Type="http://schemas.openxmlformats.org/officeDocument/2006/relationships/notesMaster" Target="/ppt/notesMasters/notesMaster1.xml" Id="Rce9a4a625b294e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52ea8e2f364ae4" /><Relationship Type="http://schemas.openxmlformats.org/officeDocument/2006/relationships/notesMaster" Target="/ppt/notesMasters/notesMaster1.xml" Id="R3504070211bb4f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2a8ab9112433d" /><Relationship Type="http://schemas.openxmlformats.org/officeDocument/2006/relationships/notesMaster" Target="/ppt/notesMasters/notesMaster1.xml" Id="Rd9ad3748fdaa4c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e37fdb7dee4cf1" /><Relationship Type="http://schemas.openxmlformats.org/officeDocument/2006/relationships/notesMaster" Target="/ppt/notesMasters/notesMaster1.xml" Id="R3b4039f08a7f45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44883aa9064239" /><Relationship Type="http://schemas.openxmlformats.org/officeDocument/2006/relationships/notesMaster" Target="/ppt/notesMasters/notesMaster1.xml" Id="Rb9d1bcfe666c48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27a84045ce46c1" /><Relationship Type="http://schemas.openxmlformats.org/officeDocument/2006/relationships/notesMaster" Target="/ppt/notesMasters/notesMaster1.xml" Id="R083334cfd0bb42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3cb052e1e74821" /><Relationship Type="http://schemas.openxmlformats.org/officeDocument/2006/relationships/notesMaster" Target="/ppt/notesMasters/notesMaster1.xml" Id="R1f95fe32223e46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606720f7eb408f" /><Relationship Type="http://schemas.openxmlformats.org/officeDocument/2006/relationships/notesMaster" Target="/ppt/notesMasters/notesMaster1.xml" Id="Re604e0c92a1d45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00e68576ff4e22" /><Relationship Type="http://schemas.openxmlformats.org/officeDocument/2006/relationships/notesMaster" Target="/ppt/notesMasters/notesMaster1.xml" Id="R84ea9139baea48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仓库内产品规划与体验洞察综合整理：Product_Planning/PyPTO3.0_Toolkit_产品功能规划.md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Insight/UX_Insight_Report（pypto仓）.md：摘要与开发者全流程洞察</a:t>
            </a:r>
          </a:p>
          <a:p xmlns:a="http://schemas.openxmlformats.org/drawingml/2006/main">
            <a:r>
              <a:t>Insight/pypto_ux_insights_zh（pypto仓）.md：静默失败与渐进披露主题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Product_Planning/PyPTO3.0_Toolkit_产品功能规划.md：统一产物协议与关键交互</a:t>
            </a:r>
          </a:p>
          <a:p xmlns:a="http://schemas.openxmlformats.org/drawingml/2006/main">
            <a:r>
              <a:t>Product_Planning/PyPTO_Studio_推理场景_产品设计.md：统一实验 Manifest 与 Diff 视图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Product_Planning/PyPTO3.0_Toolkit_产品功能规划.md：一个底座、三个入口、七个能力中心</a:t>
            </a:r>
          </a:p>
          <a:p xmlns:a="http://schemas.openxmlformats.org/drawingml/2006/main">
            <a:r>
              <a:t>Product_Planning/PyPTO_Studio_推理场景_产品设计.md：一个底座、一个中心对象、七个能力中心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Product_Planning/PyPTO3.0_Toolkit_产品功能规划.md：三层信息密度与诊断信息标准</a:t>
            </a:r>
          </a:p>
          <a:p xmlns:a="http://schemas.openxmlformats.org/drawingml/2006/main">
            <a:r>
              <a:t>Product_Planning/算子作业场景_Agent_辅助内容与可视化规划.md：内容可信度与通用交互原则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Design/Toolkit Studio/index.html</a:t>
            </a:r>
          </a:p>
          <a:p xmlns:a="http://schemas.openxmlformats.org/drawingml/2006/main">
            <a:r>
              <a:t>Design/operator-coding-agent/index.html</a:t>
            </a:r>
          </a:p>
          <a:p xmlns:a="http://schemas.openxmlformats.org/drawingml/2006/main">
            <a:r>
              <a:t>Design/model-inference-studio/index.html</a:t>
            </a:r>
          </a:p>
          <a:p xmlns:a="http://schemas.openxmlformats.org/drawingml/2006/main">
            <a:r>
              <a:t>Design/memory-viz-demo/index.html</a:t>
            </a:r>
          </a:p>
          <a:p xmlns:a="http://schemas.openxmlformats.org/drawingml/2006/main">
            <a:r>
              <a:t>Design/compile-failure-diagnosis/index.html</a:t>
            </a:r>
          </a:p>
          <a:p xmlns:a="http://schemas.openxmlformats.org/drawingml/2006/main">
            <a:r>
              <a:t>Design/decode-layer-graph/index.html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Product_Planning/PyPTO_Studio_推理场景_产品设计.md：MVP 用户故事、MTTI 指标与 Diff Hub</a:t>
            </a:r>
          </a:p>
          <a:p xmlns:a="http://schemas.openxmlformats.org/drawingml/2006/main">
            <a:r>
              <a:t>Product_Planning/大模型推理优化全旅程.md：服务 SLO → 请求阶段 → 算子 → 硬件的下钻路径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Product_Planning/算子开发_Agent_能力规划与_Coding_Agent_原型.md：Agent 定位与通用输出结构</a:t>
            </a:r>
          </a:p>
          <a:p xmlns:a="http://schemas.openxmlformats.org/drawingml/2006/main">
            <a:r>
              <a:t>Product_Planning/算子作业场景_Agent_辅助内容与可视化规划.md：不按 Agent 名称割裂界面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Product_Planning/PyPTO3.0_Toolkit_产品功能规划.md：分阶段路线图与 MVP</a:t>
            </a:r>
          </a:p>
          <a:p xmlns:a="http://schemas.openxmlformats.org/drawingml/2006/main">
            <a:r>
              <a:t>Product_Planning/PyPTO_Studio_推理场景_产品设计.md：Phase 0–2 与 MVP 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体验设计方案综合整理：Product_Planning/PyPTO3.0_体验设计项目材料包/体验设计方案.md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cdee840e342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ac815eebf54e31" /><Relationship Type="http://schemas.openxmlformats.org/officeDocument/2006/relationships/slideLayout" Target="/ppt/slideLayouts/slideLayout1.xml" Id="R884ac3f5dc284f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4ac3f5dc284f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3d14132994ea8" /><Relationship Type="http://schemas.openxmlformats.org/officeDocument/2006/relationships/notesSlide" Target="/ppt/notesSlides/notesSlide1.xml" Id="Rfb513fce23e1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99d4a25b54ddd" /><Relationship Type="http://schemas.openxmlformats.org/officeDocument/2006/relationships/notesSlide" Target="/ppt/notesSlides/notesSlide2.xml" Id="R387dc1d0882243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7cd5614ba404e" /><Relationship Type="http://schemas.openxmlformats.org/officeDocument/2006/relationships/notesSlide" Target="/ppt/notesSlides/notesSlide3.xml" Id="Refbeaf54a1cf40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1a8ec57894e86" /><Relationship Type="http://schemas.openxmlformats.org/officeDocument/2006/relationships/notesSlide" Target="/ppt/notesSlides/notesSlide4.xml" Id="Rf5d17cd89a8a41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9d3acdad94160" /><Relationship Type="http://schemas.openxmlformats.org/officeDocument/2006/relationships/notesSlide" Target="/ppt/notesSlides/notesSlide5.xml" Id="Rd83a130e121949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b739867b343fa" /><Relationship Type="http://schemas.openxmlformats.org/officeDocument/2006/relationships/image" Target="/ppt/media/image.jpeg" Id="R2a0e2231684a46e7" /><Relationship Type="http://schemas.openxmlformats.org/officeDocument/2006/relationships/notesSlide" Target="/ppt/notesSlides/notesSlide6.xml" Id="Rfc379623ab37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5e1c6466040fe" /><Relationship Type="http://schemas.openxmlformats.org/officeDocument/2006/relationships/notesSlide" Target="/ppt/notesSlides/notesSlide7.xml" Id="R5fe6222a36204a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1df5157914c2d" /><Relationship Type="http://schemas.openxmlformats.org/officeDocument/2006/relationships/notesSlide" Target="/ppt/notesSlides/notesSlide8.xml" Id="Rd1edef08044d4c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35916379547b7" /><Relationship Type="http://schemas.openxmlformats.org/officeDocument/2006/relationships/notesSlide" Target="/ppt/notesSlides/notesSlide9.xml" Id="R0ec76776804f4b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5e72379834ffe" /><Relationship Type="http://schemas.openxmlformats.org/officeDocument/2006/relationships/notesSlide" Target="/ppt/notesSlides/notesSlide10.xml" Id="R81f551e26e5943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1A4F8-41BC-4F36-939E-E1932996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7FA"/>
                </a:solidFill>
              </a:defRPr>
            </a:pPr>
            <a:r>
              <a:rPr sz="3600" b="1">
                <a:solidFill>
                  <a:srgbClr val="F5F7FA"/>
                </a:solidFill>
              </a:rPr>
              <a:t>PyPTO3.0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9A3A6-FBE3-4609-9906-D6A36471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5D6C5"/>
                </a:solidFill>
              </a:defRPr>
            </a:pPr>
            <a:r>
              <a:rPr sz="3150" b="1">
                <a:solidFill>
                  <a:srgbClr val="45D6C5"/>
                </a:solidFill>
              </a:rPr>
              <a:t>体验设计项目汇报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491D8-E62A-44B6-AEF8-F54E86C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5C7"/>
                </a:solidFill>
              </a:defRPr>
            </a:pPr>
            <a:r>
              <a:rPr sz="1800" b="0">
                <a:solidFill>
                  <a:srgbClr val="A8B5C7"/>
                </a:solidFill>
              </a:rPr>
              <a:t>让每一次开发、运行和优化，都留下可比较、可解释、可验证、可回归的证据。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537A8-F4DE-4998-BD7F-4AA952F2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2B989-12E9-4875-BF5B-29AFC953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面向 NPU 模型与算子开发者的下一代开发与优化工作台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0FFAE-119A-4E8E-85C7-FF84EF97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1799249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00498-9BC8-42A4-970D-A903BAB2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6C5"/>
                </a:solidFill>
              </a:defRPr>
            </a:pPr>
            <a:r>
              <a:rPr sz="1050" b="1">
                <a:solidFill>
                  <a:srgbClr val="45D6C5"/>
                </a:solidFill>
              </a:rPr>
              <a:t>01 / 为什么现在做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DA52C-2531-41F8-B2F5-0CF1A6F4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问题不是不能用，而是错了却不告诉你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9EBB0-20CA-48C3-A322-03801166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PyPTO 开发链路的高风险时刻，集中在“编译通过之后”。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ED3DE-79AD-43F6-A8C6-52B2438D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C58A8-15A6-4029-9B88-21522F1F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编译通过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928A2-D9FA-455A-898D-FD402B13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575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B4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86911-1464-43CD-BC42-48942F1F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67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设备运行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2B0A3-CCC2-4D2F-8691-B0C23931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575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B4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2A303-D837-44FD-B6CF-82AB200F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6B"/>
                </a:solidFill>
              </a:defRPr>
            </a:pPr>
            <a:r>
              <a:rPr sz="1800" b="1">
                <a:solidFill>
                  <a:srgbClr val="FF6B6B"/>
                </a:solidFill>
              </a:rPr>
              <a:t>全零 / 错值 / hang / 回退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278C6-AD80-47F5-A216-A3B30A6D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5C7"/>
                </a:solidFill>
              </a:defRPr>
            </a:pPr>
            <a:r>
              <a:rPr sz="1425" b="0">
                <a:solidFill>
                  <a:srgbClr val="A8B5C7"/>
                </a:solidFill>
              </a:rPr>
              <a:t>用户拿到的是结果，却缺少首个异常点、影响范围、责任域和下一步动作。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720CC-7FFE-4D99-B0DD-9FC4126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54"/>
                </a:solidFill>
              </a:defRPr>
            </a:pPr>
            <a:r>
              <a:rPr sz="1500" b="1">
                <a:solidFill>
                  <a:srgbClr val="FFB454"/>
                </a:solidFill>
              </a:rPr>
              <a:t>静默失败会把一个局部问题，放大成跨团队、跨工具的排查成本。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525EF-6A48-4E93-9710-9824D2F3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7"/>
                </a:solidFill>
              </a:defRPr>
            </a:pPr>
            <a:r>
              <a:rPr sz="900" b="0">
                <a:solidFill>
                  <a:srgbClr val="A8B5C7"/>
                </a:solidFill>
              </a:rPr>
              <a:t>PyPTO3.0 体验设计项目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FC760-8BA1-45FE-BFCA-950BD88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7"/>
                </a:solidFill>
              </a:defRPr>
            </a:pPr>
            <a:r>
              <a:rPr sz="900" b="1">
                <a:solidFill>
                  <a:srgbClr val="A8B5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7191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15A5A-B966-47DA-8522-A5AE761F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6C5"/>
                </a:solidFill>
              </a:defRPr>
            </a:pPr>
            <a:r>
              <a:rPr sz="1050" b="1">
                <a:solidFill>
                  <a:srgbClr val="45D6C5"/>
                </a:solidFill>
              </a:rPr>
              <a:t>02 / 体验命题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5A17D-CFA3-4044-8E2D-75A15A14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把“找问题”变成一条可追踪的证据链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9915C-FF69-48F9-AE6E-15B6AC0F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核心不是再增加一个页面，而是统一问题对象、比较条件和诊断语言。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0AB9F-799C-4A29-B837-DC26F157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AC4E9-5861-4050-ADF9-4517FF77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目标与基线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6D3F9-413B-4C17-9F50-6D09CFCC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956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D6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91A1F-E4DC-4CA6-818B-58CD91C1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B6344-5B7A-4124-86CE-62B709FC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表达与编译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184DB-3F2A-4EFE-9125-A6BC9435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956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D6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E9817-50B7-4FA9-8E56-03621499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0E67C-0F33-4126-933A-BF7895DE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运行与观测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BA79E-8ED0-4F2A-8B5E-F3644BA7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D6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AD351-DA31-4921-B540-0710AA4C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5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3C00F-A0C1-4AAB-981E-1734C15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比较与归因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D297E-0AE7-457C-8061-7DC59B46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956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D6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F3284-4F3C-4929-861C-81E0D78B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20222-394D-4A64-A0B2-8A1D38C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527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验证与准入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F223A-9A94-44CF-A8EA-713BA761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5D6C5"/>
                </a:solidFill>
              </a:defRPr>
            </a:pPr>
            <a:r>
              <a:rPr sz="1875" b="1">
                <a:solidFill>
                  <a:srgbClr val="45D6C5"/>
                </a:solidFill>
              </a:rPr>
              <a:t>统一中心对象：Run / Experiment + Manifest + 证据图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2EC0B-D887-4A5C-B582-9BDC0B8F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5C7"/>
                </a:solidFill>
              </a:defRPr>
            </a:pPr>
            <a:r>
              <a:rPr sz="1425" b="0">
                <a:solidFill>
                  <a:srgbClr val="A8B5C7"/>
                </a:solidFill>
              </a:rPr>
              <a:t>每次运行都能被比较、解释、复现、回归和交接。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C004A-5AF3-45C1-9EDE-A35B7F70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7"/>
                </a:solidFill>
              </a:defRPr>
            </a:pPr>
            <a:r>
              <a:rPr sz="900" b="0">
                <a:solidFill>
                  <a:srgbClr val="A8B5C7"/>
                </a:solidFill>
              </a:rPr>
              <a:t>PyPTO3.0 体验设计项目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453F8-91D3-40A2-8F23-D1B21C4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7"/>
                </a:solidFill>
              </a:defRPr>
            </a:pPr>
            <a:r>
              <a:rPr sz="900" b="1">
                <a:solidFill>
                  <a:srgbClr val="A8B5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1199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3FB3A-9DA4-451C-B6E0-9C04ACED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6C5"/>
                </a:solidFill>
              </a:defRPr>
            </a:pPr>
            <a:r>
              <a:rPr sz="1050" b="1">
                <a:solidFill>
                  <a:srgbClr val="45D6C5"/>
                </a:solidFill>
              </a:rPr>
              <a:t>03 / 体验架构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B8619-C23C-4BA1-8FB7-5A3B9851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一个底座，三个入口，七个能力中心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28634-9D2C-4722-BF95-CE682363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用同一套上下文承接算子、模型、推理和服务工程。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BA9DE-3BCB-4C1F-A177-1FB5F528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2762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54FC2-43CE-4BDE-A9EB-A5ADF1C4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6C5"/>
                </a:solidFill>
              </a:defRPr>
            </a:pPr>
            <a:r>
              <a:rPr sz="1800" b="1">
                <a:solidFill>
                  <a:srgbClr val="45D6C5"/>
                </a:solidFill>
              </a:rPr>
              <a:t>一个底座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30F4A-8BC5-4BBC-8B36-CEA3555F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Workspace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Manifest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Run ID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证据图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版本与权限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CB567-8032-4BC4-AA90-47C654F3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0D0F0-F14F-4D70-AF33-23F6762E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源码与意图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54CBE-24DF-40A1-9FF0-0EF9D864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Intent Studio</a:t>
            </a:r>
          </a:p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Coding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DA658-5013-4819-9DCA-6EF00E02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0DAB5-1612-4632-B847-8E862961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模型与推理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CFC30-A92D-42B5-93DC-F10D7B78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Model Inference</a:t>
            </a:r>
          </a:p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Studio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9FA9F-40F5-4A31-9157-2AFDFBB9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CEEA0-4B5C-43C2-9A2C-CBCC9AD6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实验与服务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688EE-D136-486A-A2A9-0A1B884C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Diff Hub</a:t>
            </a:r>
          </a:p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Admission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89A5B-B99A-4E08-89EF-A07BFEED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7429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5F5CA-A031-4E7F-9FE3-FA5B7BD1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81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D6C5"/>
                </a:solidFill>
              </a:defRPr>
            </a:pPr>
            <a:r>
              <a:rPr sz="1650" b="1">
                <a:solidFill>
                  <a:srgbClr val="45D6C5"/>
                </a:solidFill>
              </a:rPr>
              <a:t>七个能力中心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67FC1-2647-4C9A-A82A-6D1675EF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编译可信 · 跨层追踪 · 正确性 · 性能解释 · 分布式对齐 · 运行观测 · 知识与准入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B631E-A21A-424A-AEC4-95899DEF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7"/>
                </a:solidFill>
              </a:defRPr>
            </a:pPr>
            <a:r>
              <a:rPr sz="900" b="0">
                <a:solidFill>
                  <a:srgbClr val="A8B5C7"/>
                </a:solidFill>
              </a:rPr>
              <a:t>PyPTO3.0 体验设计项目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E41C3-431E-40FC-BC96-7737A447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7"/>
                </a:solidFill>
              </a:defRPr>
            </a:pPr>
            <a:r>
              <a:rPr sz="900" b="1">
                <a:solidFill>
                  <a:srgbClr val="A8B5C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3144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24C27-7F39-474A-9254-0B658394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6C5"/>
                </a:solidFill>
              </a:defRPr>
            </a:pPr>
            <a:r>
              <a:rPr sz="1050" b="1">
                <a:solidFill>
                  <a:srgbClr val="45D6C5"/>
                </a:solidFill>
              </a:rPr>
              <a:t>04 / 关键体验原则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D2003-F640-47F9-BA3F-7394969C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默认给结论，但始终能回到证据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722DB-5F56-44C9-9F81-660B50A8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信息密度随角色递进，而不是把所有底层细节同时堆给所有人。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0F2AE-4CCD-45E4-8E4D-F602D87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45D6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8C95A-3550-414F-8502-DC2E9C1F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5D6C5"/>
                </a:solidFill>
              </a:defRPr>
            </a:pPr>
            <a:r>
              <a:rPr sz="1725" b="1">
                <a:solidFill>
                  <a:srgbClr val="45D6C5"/>
                </a:solidFill>
              </a:rPr>
              <a:t>L1 结论层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53F2E-FCC3-469F-B233-EAEA7752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发生了什么？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影响是什么？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下一步做什么？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73221-CB98-4AAD-86AA-BBA7BB79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73A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55AFA-6A59-4DE6-8A40-890CA1D1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19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A7FF"/>
                </a:solidFill>
              </a:defRPr>
            </a:pPr>
            <a:r>
              <a:rPr sz="1725" b="1">
                <a:solidFill>
                  <a:srgbClr val="73A7FF"/>
                </a:solidFill>
              </a:rPr>
              <a:t>L2 工程层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FD58D-58FE-4F94-BD50-2D288727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哪个请求阶段？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哪个模块或 rank？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回退来自哪里？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DE29D-07F9-4E2A-A1EE-16D854DD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33625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20987-4BBE-4E5A-97BF-E36A1991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19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</a:defRPr>
            </a:pPr>
            <a:r>
              <a:rPr sz="1725" b="1">
                <a:solidFill>
                  <a:srgbClr val="FFB454"/>
                </a:solidFill>
              </a:rPr>
              <a:t>L3 专家层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54AEC-FD3D-4F81-A881-CD6A9353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哪个 Pass / tensor？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哪条约束或事件？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如何复现与验证？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3F2D6-3252-47C9-80A0-F809C6D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D6C5"/>
                </a:solidFill>
              </a:defRPr>
            </a:pPr>
            <a:r>
              <a:rPr sz="1650" b="1">
                <a:solidFill>
                  <a:srgbClr val="45D6C5"/>
                </a:solidFill>
              </a:rPr>
              <a:t>统一诊断结构：结论 → 证据 → 影响 → 可信度 → 建议验证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59D10-D010-40F6-9E64-7CFA024B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7"/>
                </a:solidFill>
              </a:defRPr>
            </a:pPr>
            <a:r>
              <a:rPr sz="900" b="0">
                <a:solidFill>
                  <a:srgbClr val="A8B5C7"/>
                </a:solidFill>
              </a:rPr>
              <a:t>PyPTO3.0 体验设计项目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13C09-E97F-494C-B8E8-5083123D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7"/>
                </a:solidFill>
              </a:defRPr>
            </a:pPr>
            <a:r>
              <a:rPr sz="900" b="1">
                <a:solidFill>
                  <a:srgbClr val="A8B5C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0253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6900E-AC9E-4210-8ABD-E4CC9490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6C5"/>
                </a:solidFill>
              </a:defRPr>
            </a:pPr>
            <a:r>
              <a:rPr sz="1050" b="1">
                <a:solidFill>
                  <a:srgbClr val="45D6C5"/>
                </a:solidFill>
              </a:rPr>
              <a:t>05 / 体验资产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628FB-FBF2-48D8-8663-166F7CD7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现有原型已经覆盖从代码到服务的关键断点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0AE8D-F77A-4FA5-985D-4B0E92E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它们不是孤立 Demo，而是可用于评审和用户测试的场景切片。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e2231684a46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5334000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ED557-4F63-4F9E-82BF-F31DC54E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D6D32-EF5E-4152-9388-45317BCB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Toolkit 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14342-321E-4E64-BFE0-9D76F245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57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可信 Kernel、环境指纹、Pass 图和模型结构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E904B-75EE-4BD8-9B50-A489ECD9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2D5CE-6684-444B-9338-8881E05E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Coding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CF88B-F257-46D6-9B70-0FA1F426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源码上下文、能力证据、风险与验证计划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B617C-B632-4DEC-9DEA-41EBA2E1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43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33C68-A5CA-485C-9710-52E2D737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9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Model Inference Studio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349E7-66F3-4AF5-9925-05D54C0E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62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模型导入、算子覆盖、精度与 Recipe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E415C-BC64-43C6-8C79-B575D455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AF574-C856-445C-956F-3BF2B0E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Memory / Compile / Decode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5C022-1068-4FB5-B6CD-1768BEAD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5C7"/>
                </a:solidFill>
              </a:defRPr>
            </a:pPr>
            <a:r>
              <a:rPr sz="1200" b="0">
                <a:solidFill>
                  <a:srgbClr val="A8B5C7"/>
                </a:solidFill>
              </a:rPr>
              <a:t>内存账本、编译失败、Decode 数据流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55406-04A0-4FD0-9CA1-A60EA58A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7"/>
                </a:solidFill>
              </a:defRPr>
            </a:pPr>
            <a:r>
              <a:rPr sz="900" b="0">
                <a:solidFill>
                  <a:srgbClr val="A8B5C7"/>
                </a:solidFill>
              </a:rPr>
              <a:t>PyPTO3.0 体验设计项目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90B8D-81AD-420C-AB7D-2951B586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7"/>
                </a:solidFill>
              </a:defRPr>
            </a:pPr>
            <a:r>
              <a:rPr sz="900" b="1">
                <a:solidFill>
                  <a:srgbClr val="A8B5C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7384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A6DE5D-217B-49B7-8AF3-913B9CD0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6C5"/>
                </a:solidFill>
              </a:defRPr>
            </a:pPr>
            <a:r>
              <a:rPr sz="1050" b="1">
                <a:solidFill>
                  <a:srgbClr val="45D6C5"/>
                </a:solidFill>
              </a:rPr>
              <a:t>06 / 典型闭环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C466F-8803-43FA-9998-3E83D4F5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一次性能回退，应该在同一工作台内完成定界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0FF9C-6333-4235-B34D-E6261F89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从线上指标回到责任域，再生成可复现、可准入的工程资产。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8FB57-C81C-4346-BE8A-CC934AA1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32B8E-9332-4695-9050-34364CAE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5D6C5"/>
                </a:solidFill>
              </a:defRPr>
            </a:pPr>
            <a:r>
              <a:rPr sz="1575" b="1">
                <a:solidFill>
                  <a:srgbClr val="45D6C5"/>
                </a:solidFill>
              </a:rPr>
              <a:t>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9E45E-EFF7-4054-BAA3-2776850E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7FA"/>
                </a:solidFill>
              </a:defRPr>
            </a:pPr>
            <a:r>
              <a:rPr sz="1200" b="0">
                <a:solidFill>
                  <a:srgbClr val="F5F7FA"/>
                </a:solidFill>
              </a:rPr>
              <a:t>P99 TTFT 回退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6F5A0-11CA-4E89-BF0F-D66BEC99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90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D6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E4CA0-0404-4E8B-B7E6-CDF24E99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60F6D-8F6B-4EE8-B10A-7975C331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05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5D6C5"/>
                </a:solidFill>
              </a:defRPr>
            </a:pPr>
            <a:r>
              <a:rPr sz="1575" b="1">
                <a:solidFill>
                  <a:srgbClr val="45D6C5"/>
                </a:solidFill>
              </a:rPr>
              <a:t>比较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DBA57-7049-45FB-B3FE-6ADBEB27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861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7FA"/>
                </a:solidFill>
              </a:defRPr>
            </a:pPr>
            <a:r>
              <a:rPr sz="1200" b="0">
                <a:solidFill>
                  <a:srgbClr val="F5F7FA"/>
                </a:solidFill>
              </a:rPr>
              <a:t>新旧实验 Diff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F3EDA-3BAF-4ECF-BE82-C4B0FDF3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D6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F0D4D-ED41-4198-9859-DCE9FF15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45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63FF3-41BB-4E84-B4F6-3B73475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定界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9D800-0AE8-43EF-8D05-DD31BF94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861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阶段 / rank / 算子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85B33-781A-4BB3-9B62-A7209451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90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D6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5E2A1-70C1-4103-B060-27688F2A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18ECC-C44B-4139-A340-5F63C707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05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5D6C5"/>
                </a:solidFill>
              </a:defRPr>
            </a:pPr>
            <a:r>
              <a:rPr sz="1575" b="1">
                <a:solidFill>
                  <a:srgbClr val="45D6C5"/>
                </a:solidFill>
              </a:rPr>
              <a:t>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B566F-EB5C-4DC3-8DC4-A5167B29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7FA"/>
                </a:solidFill>
              </a:defRPr>
            </a:pPr>
            <a:r>
              <a:rPr sz="1200" b="0">
                <a:solidFill>
                  <a:srgbClr val="F5F7FA"/>
                </a:solidFill>
              </a:rPr>
              <a:t>复现包 + 回归用例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612BD-9A8E-47AB-8F36-DA0C3B25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D6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FDE3C-4849-46FD-9F09-F9C8EEA8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6F896-30A9-47AA-A8E7-5D1E4C0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5D6C5"/>
                </a:solidFill>
              </a:defRPr>
            </a:pPr>
            <a:r>
              <a:rPr sz="1575" b="1">
                <a:solidFill>
                  <a:srgbClr val="45D6C5"/>
                </a:solidFill>
              </a:rPr>
              <a:t>准入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2985F-2B08-479B-BBF4-8494E2D8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861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7FA"/>
                </a:solidFill>
              </a:defRPr>
            </a:pPr>
            <a:r>
              <a:rPr sz="1200" b="0">
                <a:solidFill>
                  <a:srgbClr val="F5F7FA"/>
                </a:solidFill>
              </a:rPr>
              <a:t>门禁拦截或放行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6F9E0-F7A5-4A5B-BB21-3256BAD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5D6C5"/>
                </a:solidFill>
              </a:defRPr>
            </a:pPr>
            <a:r>
              <a:rPr sz="1725" b="1">
                <a:solidFill>
                  <a:srgbClr val="45D6C5"/>
                </a:solidFill>
              </a:rPr>
              <a:t>价值判断：从发现异常到责任域定界的中位时间（MTTI）下降。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568E5-D739-4664-AF86-06359EED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7"/>
                </a:solidFill>
              </a:defRPr>
            </a:pPr>
            <a:r>
              <a:rPr sz="900" b="0">
                <a:solidFill>
                  <a:srgbClr val="A8B5C7"/>
                </a:solidFill>
              </a:rPr>
              <a:t>PyPTO3.0 体验设计项目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40850-C6AE-4A0E-BA6C-5D524BD3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7"/>
                </a:solidFill>
              </a:defRPr>
            </a:pPr>
            <a:r>
              <a:rPr sz="900" b="1">
                <a:solidFill>
                  <a:srgbClr val="A8B5C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4385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0F6A5-08B3-4D29-A5B5-500F211A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6C5"/>
                </a:solidFill>
              </a:defRPr>
            </a:pPr>
            <a:r>
              <a:rPr sz="1050" b="1">
                <a:solidFill>
                  <a:srgbClr val="45D6C5"/>
                </a:solidFill>
              </a:rPr>
              <a:t>07 / AGENT 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80B80-73E1-45A0-A2F0-A5186208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Agent 不替用户做决定，而是把上下文组织成可验证动作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AFF15-2DDB-4826-AA01-8C21194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可信度来自证据链、明确边界和最小验证计划。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CFCF2-26A5-47EF-9981-F3F00B5C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286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FC56F-6D88-4979-99AD-5CC2C2CC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6C5"/>
                </a:solidFill>
              </a:defRPr>
            </a:pPr>
            <a:r>
              <a:rPr sz="1800" b="1">
                <a:solidFill>
                  <a:srgbClr val="45D6C5"/>
                </a:solidFill>
              </a:rPr>
              <a:t>Agent 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E7BDA-42E9-476C-8F7C-974FB46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结论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证据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影响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可信度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建议验证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CD599-CBFB-4D9A-BC2A-BA1863F8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7662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B4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3271E-D69A-4DC7-8954-3A7B3062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47434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F7F4B-6780-49E1-B5ED-95D80418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454"/>
                </a:solidFill>
              </a:defRPr>
            </a:pPr>
            <a:r>
              <a:rPr sz="1800" b="1">
                <a:solidFill>
                  <a:srgbClr val="FFB454"/>
                </a:solidFill>
              </a:rPr>
              <a:t>用户控制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2C430-71A8-4601-8D76-97739DBF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追问假设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查看源码 / IR / trace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运行最小实验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确认修改与回归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1C0CB-0A19-4415-9686-8898A537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8B5C7"/>
                </a:solidFill>
              </a:defRPr>
            </a:pPr>
            <a:r>
              <a:rPr sz="1575" b="0">
                <a:solidFill>
                  <a:srgbClr val="A8B5C7"/>
                </a:solidFill>
              </a:rPr>
              <a:t>嵌入源码、编译结果、运行详情和实验 Diff，而不是按 Agent 名称割裂界面。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FB2A5-E29C-490F-BA25-9CD8051B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7"/>
                </a:solidFill>
              </a:defRPr>
            </a:pPr>
            <a:r>
              <a:rPr sz="900" b="0">
                <a:solidFill>
                  <a:srgbClr val="A8B5C7"/>
                </a:solidFill>
              </a:rPr>
              <a:t>PyPTO3.0 体验设计项目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F8625-F55C-40C7-A3C2-EA03A25E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7"/>
                </a:solidFill>
              </a:defRPr>
            </a:pPr>
            <a:r>
              <a:rPr sz="900" b="1">
                <a:solidFill>
                  <a:srgbClr val="A8B5C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1885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0D02F-683B-41C1-A894-BF338C5C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6C5"/>
                </a:solidFill>
              </a:defRPr>
            </a:pPr>
            <a:r>
              <a:rPr sz="1050" b="1">
                <a:solidFill>
                  <a:srgbClr val="45D6C5"/>
                </a:solidFill>
              </a:rPr>
              <a:t>08 / MVP 与路线图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5D000-EC2A-4476-B5A9-B0FCC944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先建立比较与定界底座，再扩展智能诊断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F3F62-5558-4588-B5A6-3DF9AE4C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优先交付能降低发版风险、能沉淀证据的最小闭环。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18100-EA5D-4DDB-B7C3-12A99EF7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5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CE0A2-F44C-4324-8C3B-D86CB84F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Phase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3A5E0-3CDC-4E8C-B52D-41607787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28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5C7"/>
                </a:solidFill>
              </a:defRPr>
            </a:pPr>
            <a:r>
              <a:rPr sz="1350" b="1">
                <a:solidFill>
                  <a:srgbClr val="A8B5C7"/>
                </a:solidFill>
              </a:rPr>
              <a:t>0–3 个月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5C675-3F09-4671-AECC-FD1F3E89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28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Manifest / Run ID / Diff / Rank 对齐 / 准入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B4EC3-16B4-4A4F-8616-C033B95E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3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B0410-F598-4FA7-865E-4EA78370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Phase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08103-543D-49CE-9266-4189E3F3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81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5C7"/>
                </a:solidFill>
              </a:defRPr>
            </a:pPr>
            <a:r>
              <a:rPr sz="1350" b="1">
                <a:solidFill>
                  <a:srgbClr val="A8B5C7"/>
                </a:solidFill>
              </a:rPr>
              <a:t>3–9 个月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87ED3-F78A-4276-B0C0-619B6CFC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813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服务到算子的端到端诊断 / Accuracy Lab /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A1042-74C0-4072-A1F1-C8B2BC09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9709A-0DA5-4ACE-8776-340CEFB4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Phase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931CB-1045-429D-8581-9E640B6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33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5C7"/>
                </a:solidFill>
              </a:defRPr>
            </a:pPr>
            <a:r>
              <a:rPr sz="1350" b="1">
                <a:solidFill>
                  <a:srgbClr val="A8B5C7"/>
                </a:solidFill>
              </a:rPr>
              <a:t>9–18 个月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D7DC5-96B5-4333-B9D5-D17597B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33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RL 一致性 / 规模化知识与智能诊断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A0D93-A9AA-48A5-ACE7-C463C4D0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MVP 不包含：完整 RL 诊断、大规模集群自愈、自主改码 Agent、生产运维平台。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FBB04-2800-413C-A791-7986E654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7"/>
                </a:solidFill>
              </a:defRPr>
            </a:pPr>
            <a:r>
              <a:rPr sz="900" b="0">
                <a:solidFill>
                  <a:srgbClr val="A8B5C7"/>
                </a:solidFill>
              </a:rPr>
              <a:t>PyPTO3.0 体验设计项目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C5EB0-E598-440D-AFC2-886A8331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7"/>
                </a:solidFill>
              </a:defRPr>
            </a:pPr>
            <a:r>
              <a:rPr sz="900" b="1">
                <a:solidFill>
                  <a:srgbClr val="A8B5C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76231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D6C4E-6214-4657-82AC-43BCAAA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6C5"/>
                </a:solidFill>
              </a:defRPr>
            </a:pPr>
            <a:r>
              <a:rPr sz="1050" b="1">
                <a:solidFill>
                  <a:srgbClr val="45D6C5"/>
                </a:solidFill>
              </a:rPr>
              <a:t>09 /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27EF7-0EFC-4010-B395-38891A83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PyPTO3.0 的差异化，不是多一个工具，而是补齐一条证据链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FC9CA-29C7-4D6B-976C-75D1BFF5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让开发者知道发生了什么、为什么发生、下一步怎么验证，以及何时可以安全交付。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FCF54-6C86-4950-93F1-5731A17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45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2EA0C-FAD4-47F9-AAD5-2352BAB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622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从“能跑”到“可信达标产物”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183C7-4473-4840-89E2-9FC8636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下一步：以 Manifest、Run ID、Diff Hub 和一条典型异常闭环启动 MVP 评审。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94A0B-36FF-422D-B944-717A6548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5C7"/>
                </a:solidFill>
              </a:defRPr>
            </a:pPr>
            <a:r>
              <a:rPr sz="1350" b="0">
                <a:solidFill>
                  <a:srgbClr val="A8B5C7"/>
                </a:solidFill>
              </a:rPr>
              <a:t>评审问题：哪些证据可以在 Phase 0 被稳定接入？哪个真实异常最适合作为首个闭环？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C632B-A781-44E8-AB14-153B83BD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7"/>
                </a:solidFill>
              </a:defRPr>
            </a:pPr>
            <a:r>
              <a:rPr sz="900" b="0">
                <a:solidFill>
                  <a:srgbClr val="A8B5C7"/>
                </a:solidFill>
              </a:rPr>
              <a:t>PyPTO3.0 体验设计项目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98127-8892-47FA-A701-7092AC43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7"/>
                </a:solidFill>
              </a:defRPr>
            </a:pPr>
            <a:r>
              <a:rPr sz="900" b="1">
                <a:solidFill>
                  <a:srgbClr val="A8B5C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0875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2026-08-17T03:51:28.6280000Z</dcterms:created>
  <dcterms:modified xsi:type="dcterms:W3CDTF">2026-08-17T03:51:28.6280000Z</dcterms:modified>
</coreProperties>
</file>